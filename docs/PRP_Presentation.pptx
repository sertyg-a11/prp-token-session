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294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FHICT · Cyber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of Token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Session Handling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Web Applications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"Authentication is correct. Session handling is not."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Andrii Kolodyazhniy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" y="9326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1591056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15910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framework — method per research question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" y="22494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research — key findings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6576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29077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architecture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35661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evidence — S1: Cookie flags  ·  S2: Session fixation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09160" y="932688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709160" y="932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21224" y="9326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evidence — S3: XSS token theft  ·  S4: Broken logout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4709160" y="1591056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70916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21224" y="15910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— insecure vs. secure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09160" y="2121408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4709160" y="2249424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70916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21224" y="22494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analysis + risk rating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09160" y="2779776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4709160" y="2907792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470916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21224" y="29077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research questions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09160" y="3438144"/>
            <a:ext cx="42519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2062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470916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21224" y="35661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of Knowledge subjects applied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526280" y="841248"/>
            <a:ext cx="22860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566160" cy="4023360"/>
          </a:xfrm>
          <a:prstGeom prst="rect">
            <a:avLst/>
          </a:prstGeom>
          <a:solidFill>
            <a:srgbClr val="1A1A2E"/>
          </a:solidFill>
          <a:ln w="9525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research 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secure is token and session handling in modern web applications, and which implementation choices create or reduce vulnerabilities?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291840" cy="18288"/>
          </a:xfrm>
          <a:prstGeom prst="rect">
            <a:avLst/>
          </a:prstGeom>
          <a:solidFill>
            <a:srgbClr val="7EC8C8"/>
          </a:solidFill>
          <a:ln w="12700">
            <a:solidFill>
              <a:srgbClr val="7EC8C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02920" y="3072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3328416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PoC · Docker Compose · SQLite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scenarios: S1 – S4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profile vs SECURE profile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DOT methods across 5 sub-questions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608576"/>
            <a:ext cx="35661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" y="4608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 Sprint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822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1188720"/>
            <a:ext cx="4663440" cy="603504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160520" y="1188720"/>
            <a:ext cx="384048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160520" y="1188720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12252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common vulnerabilities in token and session handling?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1901952"/>
            <a:ext cx="4663440" cy="603504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160520" y="1901952"/>
            <a:ext cx="384048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160520" y="1901952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193852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insecure storage or transmission of tokens be exploited?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2615184"/>
            <a:ext cx="4663440" cy="603504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160520" y="2615184"/>
            <a:ext cx="384048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160520" y="2615184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6517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attack scenarios are realistic and feasible for a controlled PoC?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3328416"/>
            <a:ext cx="4663440" cy="603504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160520" y="3328416"/>
            <a:ext cx="384048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160520" y="3328416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336499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security impact on confidentiality, integrity and availability?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60520" y="4041648"/>
            <a:ext cx="4663440" cy="603504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160520" y="4041648"/>
            <a:ext cx="384048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160520" y="4041648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407822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defensive measures improve security most effectively?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framework — method per research question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143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0" y="841248"/>
            <a:ext cx="26974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645920" y="8412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841248"/>
            <a:ext cx="1143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389120" y="8412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841248"/>
            <a:ext cx="31546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577840" y="841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188720"/>
            <a:ext cx="1143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1554480" y="1188720"/>
            <a:ext cx="2697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1143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5486400" y="1188720"/>
            <a:ext cx="3154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57200" y="1225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12252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(OWASP, RFC 6265/7519, MDN)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0" y="1225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Q2, Q3, Q5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1225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vulnerability checklist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1847088"/>
            <a:ext cx="114300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1554480" y="1847088"/>
            <a:ext cx="269748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297680" y="1847088"/>
            <a:ext cx="114300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5486400" y="1847088"/>
            <a:ext cx="315468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57200" y="18836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18836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Teacher/supervisor consultation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 review, feasibility check)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18836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Q3, Q5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18836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scenario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feedback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505456"/>
            <a:ext cx="1143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1554480" y="2505456"/>
            <a:ext cx="2697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297680" y="2505456"/>
            <a:ext cx="1143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5486400" y="2505456"/>
            <a:ext cx="3154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45920" y="25420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implementation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controlled attack testing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89120" y="25420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Q2, Q3, Q4, Q5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77840" y="25420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evidence,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comparison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163824"/>
            <a:ext cx="114300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>
            <a:off x="1554480" y="3163824"/>
            <a:ext cx="269748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4297680" y="3163824"/>
            <a:ext cx="114300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5486400" y="3163824"/>
            <a:ext cx="315468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45720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459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review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(insecure vs. secure variants)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8912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Q4, Q5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7784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comparison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justified redesign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822192"/>
            <a:ext cx="1143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>
            <a:off x="1554480" y="3822192"/>
            <a:ext cx="2697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Shape 44"/>
          <p:cNvSpPr/>
          <p:nvPr/>
        </p:nvSpPr>
        <p:spPr>
          <a:xfrm>
            <a:off x="4297680" y="3822192"/>
            <a:ext cx="1143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>
            <a:off x="5486400" y="3822192"/>
            <a:ext cx="3154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457200" y="3858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64592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design review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cyber security students)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389120" y="38587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Q3, Q5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577840" y="3858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decisions &amp;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research — key findings (Q1, Q2, Q3, Q5)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438912" cy="43891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85953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L1 vulnerability classes — OWASP ASVS V3  (Q1)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cookie security attributes · Session fixation · JWT in localStorage · Absent server-side revocation. All are OWASP Top 10 A07:2021 findings requiring minimal attacker capability.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8412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38912" cy="43891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8366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in published standards — RFC 6265 &amp; RFC 7519  (Q2)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1945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cookies are insecure by default without Secure/HttpOnly/SameSite flags (RFC 6265). JWTs are stateless bearer credentials valid until expiry unless a deny-list is maintained (RFC 7519).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8412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38912" cy="43891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scenarios confirmed realistic — OWASP Testing Guide  (Q3)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21868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OTG-SESS-002, -003, -006, -009 each map directly to one scenario. Classified as L1 (baseline) findings — reproducible without specialised tools or infrastructure.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8412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438912" cy="43891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65760" y="3950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9319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defensive controls — OWASP Session Management Cheat Sheet  (Q5)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24281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highest-impact, lowest-complexity fixes identified: cookie security attributes (config only) · session.clear() on login (1 line) · HttpOnly cookie instead of localStorage (1 branch) · jti deny-list (1 DB lookup per request).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 · Docker Compose · SQLite · Two configuration profiles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0116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visible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143000"/>
            <a:ext cx="22860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3566160" y="1143000"/>
            <a:ext cx="22860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5661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463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InsecureConfig / SecureConfig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143000"/>
            <a:ext cx="1828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Notes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645920"/>
            <a:ext cx="109728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5852160" y="1645920"/>
            <a:ext cx="10058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3931920" cy="1097280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201168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73152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Cookie-session path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8072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Missing Secure/HttpOnly/SameSite flags
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Session ID not regenerated on login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931920" cy="1097280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4754880" y="2423160"/>
            <a:ext cx="201168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02920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path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8072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JWT stored in localStorage + XSS sink
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server-side token revocation on logout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8221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profiles = one config class change, no code changes required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evidence — S1: Missing cookie flags  ·  S2: Session fixation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60520" cy="3108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75488" y="80467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S1 (INSECURE): no cookie flags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15568"/>
            <a:ext cx="4160520" cy="749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04672"/>
            <a:ext cx="41148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4773168" y="8046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S1 (SECURE): flags applied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15568"/>
            <a:ext cx="4114800" cy="749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892808"/>
            <a:ext cx="841248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7"/>
          <p:cNvSpPr/>
          <p:nvPr/>
        </p:nvSpPr>
        <p:spPr>
          <a:xfrm>
            <a:off x="365760" y="1965960"/>
            <a:ext cx="4160520" cy="3108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8"/>
          <p:cNvSpPr/>
          <p:nvPr/>
        </p:nvSpPr>
        <p:spPr>
          <a:xfrm>
            <a:off x="475488" y="196596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S2 (INSECURE): same session ID after login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2276856"/>
            <a:ext cx="2029968" cy="2395728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68880" y="2276856"/>
            <a:ext cx="2029968" cy="23957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5760" y="470916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login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2468880" y="470916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takes over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663440" y="1965960"/>
            <a:ext cx="41148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2"/>
          <p:cNvSpPr/>
          <p:nvPr/>
        </p:nvSpPr>
        <p:spPr>
          <a:xfrm>
            <a:off x="4773168" y="196596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S2 (SECURE): new session ID on login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63440" y="2276856"/>
            <a:ext cx="4114800" cy="11887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6344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login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63440" y="3703320"/>
            <a:ext cx="4114800" cy="11887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63440" y="49103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 — different ID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evidence — S3: XSS token theft  ·  S4: Broken logout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60520" cy="3108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75488" y="80467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S3 (INSECURE): JWT in localStorage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15568"/>
            <a:ext cx="4160520" cy="1261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2432304"/>
            <a:ext cx="416052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411480" y="24323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E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tokens.log: 2026-05-05T02:07:22 | eyJhbGci…vasya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63440" y="804672"/>
            <a:ext cx="41148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4773168" y="8046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S3 (SECURE): token in HttpOnly cookie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15568"/>
            <a:ext cx="4114800" cy="1554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2697480"/>
            <a:ext cx="841248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9"/>
          <p:cNvSpPr/>
          <p:nvPr/>
        </p:nvSpPr>
        <p:spPr>
          <a:xfrm>
            <a:off x="365760" y="2770632"/>
            <a:ext cx="4160520" cy="3108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0"/>
          <p:cNvSpPr/>
          <p:nvPr/>
        </p:nvSpPr>
        <p:spPr>
          <a:xfrm>
            <a:off x="475488" y="277063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S4 (INSECURE): token valid after logout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3081528"/>
            <a:ext cx="4160520" cy="8961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760" y="401421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token from tokens.log → HTTP 200 after logout click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663440" y="2770632"/>
            <a:ext cx="41148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3"/>
          <p:cNvSpPr/>
          <p:nvPr/>
        </p:nvSpPr>
        <p:spPr>
          <a:xfrm>
            <a:off x="4773168" y="27706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S4 (SECURE): jti deny-list enforced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0" y="3081528"/>
            <a:ext cx="4114800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— insecure vs. secure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36245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38912" y="804672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804672"/>
            <a:ext cx="172821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856232" y="804672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804672"/>
            <a:ext cx="200253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639312" y="80467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result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804672"/>
            <a:ext cx="200253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696712" y="80467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804672"/>
            <a:ext cx="140817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7754112" y="8046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133856"/>
            <a:ext cx="136245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1783080" y="1133856"/>
            <a:ext cx="172821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566160" y="1133856"/>
            <a:ext cx="2002536" cy="731520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623560" y="1133856"/>
            <a:ext cx="2002536" cy="731520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7680960" y="1133856"/>
            <a:ext cx="140817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38912" y="1170432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flags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6232" y="1170432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Secure/HttpOnly/SameSite absent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39312" y="1170432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in cleartext pcap;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via document.cookie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96712" y="1170432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set in config;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document.cookie = ""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54112" y="117043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(HSTS applied)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1901952"/>
            <a:ext cx="1362456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1783080" y="1901952"/>
            <a:ext cx="1728216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3566160" y="1901952"/>
            <a:ext cx="2002536" cy="731520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5623560" y="1901952"/>
            <a:ext cx="2002536" cy="731520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>
            <a:off x="7680960" y="1901952"/>
            <a:ext cx="1408176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38912" y="1938528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56232" y="1938528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unchanged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login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39312" y="1938528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cookie before &amp; after;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attacker_dashboard_takeover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96712" y="1938528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 on login;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ID orphaned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54112" y="19385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670048"/>
            <a:ext cx="136245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1783080" y="2670048"/>
            <a:ext cx="172821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3566160" y="2670048"/>
            <a:ext cx="2002536" cy="731520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>
            <a:off x="5623560" y="2670048"/>
            <a:ext cx="2002536" cy="731520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7680960" y="2670048"/>
            <a:ext cx="140817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38912" y="2706624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theft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56232" y="2706624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localStorage;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sink in notes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39312" y="2706624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exfiltrated;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tokens.log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96712" y="2706624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→ null;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blocks fetch()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54112" y="270662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(CSP + HttpOnly)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438144"/>
            <a:ext cx="1362456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>
            <a:off x="1783080" y="3438144"/>
            <a:ext cx="1728216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Shape 44"/>
          <p:cNvSpPr/>
          <p:nvPr/>
        </p:nvSpPr>
        <p:spPr>
          <a:xfrm>
            <a:off x="3566160" y="3438144"/>
            <a:ext cx="2002536" cy="731520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>
            <a:off x="5623560" y="3438144"/>
            <a:ext cx="2002536" cy="731520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7680960" y="3438144"/>
            <a:ext cx="1408176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438912" y="347472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logout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856232" y="3474720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revocation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39312" y="3474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after logout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(server_after_logout.png)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96712" y="3474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"Token has been revoked"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54112" y="347472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(jti deny-list)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attack scenarios failed against the SECURE profile.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analysis + risk rating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197510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20624" y="11338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33856"/>
            <a:ext cx="74066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2432304" y="11338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33856"/>
            <a:ext cx="74066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209544" y="11338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133856"/>
            <a:ext cx="74066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986784" y="11338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26464"/>
            <a:ext cx="197510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2377440" y="1426464"/>
            <a:ext cx="74066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3154680" y="1426464"/>
            <a:ext cx="74066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931920" y="1426464"/>
            <a:ext cx="74066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20624" y="142646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Cookie flags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32304" y="142646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9544" y="142646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86784" y="142646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1956816"/>
            <a:ext cx="197510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2377440" y="1956816"/>
            <a:ext cx="74066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3154680" y="1956816"/>
            <a:ext cx="74066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3931920" y="1956816"/>
            <a:ext cx="74066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20624" y="195681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Fixation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32304" y="195681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9544" y="195681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86784" y="195681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487168"/>
            <a:ext cx="197510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2377440" y="2487168"/>
            <a:ext cx="74066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3154680" y="2487168"/>
            <a:ext cx="74066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3931920" y="2487168"/>
            <a:ext cx="74066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20624" y="248716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XSS theft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32304" y="248716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9544" y="248716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86784" y="248716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017520"/>
            <a:ext cx="197510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2377440" y="3017520"/>
            <a:ext cx="74066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3154680" y="3017520"/>
            <a:ext cx="74066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Shape 38"/>
          <p:cNvSpPr/>
          <p:nvPr/>
        </p:nvSpPr>
        <p:spPr>
          <a:xfrm>
            <a:off x="3931920" y="3017520"/>
            <a:ext cx="74066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420624" y="30175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Broken logout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432304" y="301752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9544" y="301752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986784" y="301752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65760" y="362102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and Integrity are HIGH for all scenarios.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LOW — none of the attacks disrupt service directly.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841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(OWASP methodology)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212080" y="1133856"/>
            <a:ext cx="92354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5266944" y="1133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72200" y="1133856"/>
            <a:ext cx="106070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6227064" y="11338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24344" y="1133856"/>
            <a:ext cx="106070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7379208" y="11338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12080" y="1426464"/>
            <a:ext cx="92354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5266944" y="1426464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1426464"/>
            <a:ext cx="1115568" cy="493776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6172200" y="1426464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24344" y="1426464"/>
            <a:ext cx="1115568" cy="493776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56"/>
          <p:cNvSpPr/>
          <p:nvPr/>
        </p:nvSpPr>
        <p:spPr>
          <a:xfrm>
            <a:off x="7324344" y="1426464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212080" y="1956816"/>
            <a:ext cx="92354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Text 58"/>
          <p:cNvSpPr/>
          <p:nvPr/>
        </p:nvSpPr>
        <p:spPr>
          <a:xfrm>
            <a:off x="5266944" y="1956816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172200" y="1956816"/>
            <a:ext cx="1115568" cy="493776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60"/>
          <p:cNvSpPr/>
          <p:nvPr/>
        </p:nvSpPr>
        <p:spPr>
          <a:xfrm>
            <a:off x="6172200" y="1956816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324344" y="1956816"/>
            <a:ext cx="1115568" cy="493776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7324344" y="1956816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212080" y="2487168"/>
            <a:ext cx="92354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5266944" y="248716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172200" y="2487168"/>
            <a:ext cx="1115568" cy="493776"/>
          </a:xfrm>
          <a:prstGeom prst="rect">
            <a:avLst/>
          </a:prstGeom>
          <a:solidFill>
            <a:srgbClr val="C1121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Text 66"/>
          <p:cNvSpPr/>
          <p:nvPr/>
        </p:nvSpPr>
        <p:spPr>
          <a:xfrm>
            <a:off x="6172200" y="2487168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324344" y="2487168"/>
            <a:ext cx="1115568" cy="493776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0" name="Text 68"/>
          <p:cNvSpPr/>
          <p:nvPr/>
        </p:nvSpPr>
        <p:spPr>
          <a:xfrm>
            <a:off x="7324344" y="2487168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212080" y="3017520"/>
            <a:ext cx="923544" cy="493776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2" name="Text 70"/>
          <p:cNvSpPr/>
          <p:nvPr/>
        </p:nvSpPr>
        <p:spPr>
          <a:xfrm>
            <a:off x="5266944" y="301752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172200" y="3017520"/>
            <a:ext cx="1115568" cy="493776"/>
          </a:xfrm>
          <a:prstGeom prst="rect">
            <a:avLst/>
          </a:prstGeom>
          <a:solidFill>
            <a:srgbClr val="FAEDE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Text 72"/>
          <p:cNvSpPr/>
          <p:nvPr/>
        </p:nvSpPr>
        <p:spPr>
          <a:xfrm>
            <a:off x="6172200" y="3017520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324344" y="3017520"/>
            <a:ext cx="1115568" cy="493776"/>
          </a:xfrm>
          <a:prstGeom prst="rect">
            <a:avLst/>
          </a:prstGeom>
          <a:solidFill>
            <a:srgbClr val="E6F5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6" name="Text 74"/>
          <p:cNvSpPr/>
          <p:nvPr/>
        </p:nvSpPr>
        <p:spPr>
          <a:xfrm>
            <a:off x="7324344" y="3017520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5212080" y="3621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lines of code · no new dependencies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the research questions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20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82296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common vulnerabilities in token and session handling?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0607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Secure/HttpOnly/SameSite cookie flags · session fixation · JWT stored in localStorage · no server-side token revocation. All are OWASP ASVS L1 and Top 10 A07:2021.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20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48132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insecure storage or transmission of tokens be exploited?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7190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S1: passive network capture extracts cookie from cleartext HTTP. S3: one-line XSS payload exfiltrates JWT from localStorage to attacker server (logged in tokens.log). S4: captured token replays after logout, server returns HTTP 200.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320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12140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13969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attack scenarios are realistic and feasible for a controlled PoC?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377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four: confirmed by OWASP Testing Guide OTG-SESS-002/-003/-006/-009. Each reproduced in Docker using only browser DevTools, tcpdump and curl — no specialised tools.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320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79806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security impact on confidentiality, integrity and availability?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30358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HIGH · Integrity HIGH · Availability LOW for all four scenarios. Risk level: CRITICAL to HIGH in INSECURE profile → LOW to VERY LOW after applying SECURE controls.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32004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65760" y="343814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4564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defensive measures improve security most effectively?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369417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baseline controls, in order of effort: cookie security attributes (config only) · session.clear() on login (1 line) · HttpOnly cookie instead of localStorage (1 branch) · jti deny-list (1 DB lookup per request). No new libraries required.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20116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685800" y="418795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token and session handling is insecure by default. The fixes require configuration changes and ~10 lines of code — no new libraries, no architectural redesign.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of Knowledge subjects applied in this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8138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Threat + Risk Analysis + 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0332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analysis applied to all four vulnerabilities (C=HIGH, I=HIGH, A=LOW). Qualitative risk matrix using OWASP Risk Rating — S3 rated CRITICAL in INSECURE profile.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36245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Law, Ethics + Responsible Disclosure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158191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restricted to self-built PoC. /set endpoint blocked outside INSECURE mode. NCSC responsible disclosure guideline referenced throughout the research.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191109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— XSS &amp; CSRF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2130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a stored-XSS token theft attack. SameSite=Lax/Strict addresses CSRF for both session cookie and JWT cookie. CSP (default-src 'self') applied as second line of defence.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45973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— Network Scanning and Enumeration (Sniffing)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26791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uses tcpdump on the Docker bridge network to passively capture plaintext session cookies — a network sniffing attack requiring no active exploitation.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300837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 — Secure Remote Access (HTTPS)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2278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cookie flag enforces HTTPS transport per RFC 6265. HSTS header (max-age=31536000) applied in SECURE profile to prevent protocol downgrade attacks.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8138160" cy="1188720"/>
          </a:xfrm>
          <a:prstGeom prst="rect">
            <a:avLst/>
          </a:prstGeom>
          <a:solidFill>
            <a:srgbClr val="0F3460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1497</Words>
  <Application>Microsoft Office PowerPoint</Application>
  <PresentationFormat>On-screen Show (16:9)</PresentationFormat>
  <Paragraphs>260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Analysis of Token and Session Handling</dc:title>
  <dc:subject>PptxGenJS Presentation</dc:subject>
  <dc:creator>Andrii Kolodyazhniy</dc:creator>
  <cp:lastModifiedBy>Kolodiazhnyi,Andrii A.V.</cp:lastModifiedBy>
  <cp:revision>4</cp:revision>
  <dcterms:created xsi:type="dcterms:W3CDTF">2026-06-04T08:22:18Z</dcterms:created>
  <dcterms:modified xsi:type="dcterms:W3CDTF">2026-06-04T08:40:22Z</dcterms:modified>
</cp:coreProperties>
</file>